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e1e933fb642f1" /><Relationship Type="http://schemas.openxmlformats.org/officeDocument/2006/relationships/extended-properties" Target="/docProps/app.xml" Id="R056b4e8b6a6e4d51" /><Relationship Type="http://schemas.openxmlformats.org/officeDocument/2006/relationships/officeDocument" Target="/ppt/presentation.xml" Id="R1404985a123b4b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1199ddc5c14ca3"/>
  </p:sldMasterIdLst>
  <p:notesMasterIdLst>
    <p:notesMasterId xmlns:r="http://schemas.openxmlformats.org/officeDocument/2006/relationships" r:id="R5139ad67a2594245"/>
  </p:notesMasterIdLst>
  <p:sldIdLst>
    <p:sldId xmlns:r="http://schemas.openxmlformats.org/officeDocument/2006/relationships" id="256" r:id="Rdf6b2b5838544fed"/>
    <p:sldId xmlns:r="http://schemas.openxmlformats.org/officeDocument/2006/relationships" id="257" r:id="Rf16f898a3d904726"/>
    <p:sldId xmlns:r="http://schemas.openxmlformats.org/officeDocument/2006/relationships" id="258" r:id="Rb78badae7b56406f"/>
    <p:sldId xmlns:r="http://schemas.openxmlformats.org/officeDocument/2006/relationships" id="259" r:id="R64e4adee467b47a1"/>
    <p:sldId xmlns:r="http://schemas.openxmlformats.org/officeDocument/2006/relationships" id="260" r:id="Reb9b9c8055f94f2a"/>
    <p:sldId xmlns:r="http://schemas.openxmlformats.org/officeDocument/2006/relationships" id="261" r:id="Rf032edc5bbde4cc3"/>
    <p:sldId xmlns:r="http://schemas.openxmlformats.org/officeDocument/2006/relationships" id="262" r:id="Ra802b0a1e1a3414f"/>
    <p:sldId xmlns:r="http://schemas.openxmlformats.org/officeDocument/2006/relationships" id="263" r:id="R049885ef5e924984"/>
    <p:sldId xmlns:r="http://schemas.openxmlformats.org/officeDocument/2006/relationships" id="264" r:id="Rb99e9e786cd94367"/>
  </p:sldIdLst>
  <p:sldSz cx="12188952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1766db537d4189" /><Relationship Type="http://schemas.openxmlformats.org/officeDocument/2006/relationships/slideMaster" Target="/ppt/slideMasters/slideMaster1.xml" Id="R631199ddc5c14ca3" /><Relationship Type="http://schemas.openxmlformats.org/officeDocument/2006/relationships/notesMaster" Target="/ppt/notesMasters/notesMaster1.xml" Id="R5139ad67a2594245" /><Relationship Type="http://schemas.openxmlformats.org/officeDocument/2006/relationships/presProps" Target="/ppt/presProps.xml" Id="R09e1aa07204449b5" /><Relationship Type="http://schemas.openxmlformats.org/officeDocument/2006/relationships/tableStyles" Target="/ppt/tableStyles.xml" Id="R1345cb303bc543de" /><Relationship Type="http://schemas.openxmlformats.org/officeDocument/2006/relationships/slide" Target="/ppt/slides/slide1.xml" Id="Rdf6b2b5838544fed" /><Relationship Type="http://schemas.openxmlformats.org/officeDocument/2006/relationships/slide" Target="/ppt/slides/slide2.xml" Id="Rf16f898a3d904726" /><Relationship Type="http://schemas.openxmlformats.org/officeDocument/2006/relationships/slide" Target="/ppt/slides/slide3.xml" Id="Rb78badae7b56406f" /><Relationship Type="http://schemas.openxmlformats.org/officeDocument/2006/relationships/slide" Target="/ppt/slides/slide4.xml" Id="R64e4adee467b47a1" /><Relationship Type="http://schemas.openxmlformats.org/officeDocument/2006/relationships/slide" Target="/ppt/slides/slide5.xml" Id="Reb9b9c8055f94f2a" /><Relationship Type="http://schemas.openxmlformats.org/officeDocument/2006/relationships/slide" Target="/ppt/slides/slide6.xml" Id="Rf032edc5bbde4cc3" /><Relationship Type="http://schemas.openxmlformats.org/officeDocument/2006/relationships/slide" Target="/ppt/slides/slide7.xml" Id="Ra802b0a1e1a3414f" /><Relationship Type="http://schemas.openxmlformats.org/officeDocument/2006/relationships/slide" Target="/ppt/slides/slide8.xml" Id="R049885ef5e924984" /><Relationship Type="http://schemas.openxmlformats.org/officeDocument/2006/relationships/slide" Target="/ppt/slides/slide9.xml" Id="Rb99e9e786cd943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c17ff3a49e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cd360c4c46468a" /><Relationship Type="http://schemas.openxmlformats.org/officeDocument/2006/relationships/notesMaster" Target="/ppt/notesMasters/notesMaster1.xml" Id="R3fc35d8538e54f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dc7a2d46894c2e" /><Relationship Type="http://schemas.openxmlformats.org/officeDocument/2006/relationships/notesMaster" Target="/ppt/notesMasters/notesMaster1.xml" Id="R40efd5eb011b4e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92380c5a66466d" /><Relationship Type="http://schemas.openxmlformats.org/officeDocument/2006/relationships/notesMaster" Target="/ppt/notesMasters/notesMaster1.xml" Id="R67b6fd9213a947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a7c4f016c84756" /><Relationship Type="http://schemas.openxmlformats.org/officeDocument/2006/relationships/notesMaster" Target="/ppt/notesMasters/notesMaster1.xml" Id="R45aacc2a363f4c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fec28ab5c1463b" /><Relationship Type="http://schemas.openxmlformats.org/officeDocument/2006/relationships/notesMaster" Target="/ppt/notesMasters/notesMaster1.xml" Id="R40bf807a3e7142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abb6e429b4143" /><Relationship Type="http://schemas.openxmlformats.org/officeDocument/2006/relationships/notesMaster" Target="/ppt/notesMasters/notesMaster1.xml" Id="Rd7b70a64706940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39039dc672414d" /><Relationship Type="http://schemas.openxmlformats.org/officeDocument/2006/relationships/notesMaster" Target="/ppt/notesMasters/notesMaster1.xml" Id="R7efdeeb50f6c47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585a6044c344a1" /><Relationship Type="http://schemas.openxmlformats.org/officeDocument/2006/relationships/notesMaster" Target="/ppt/notesMasters/notesMaster1.xml" Id="R248981fbe8794f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7951c13be6459f" /><Relationship Type="http://schemas.openxmlformats.org/officeDocument/2006/relationships/notesMaster" Target="/ppt/notesMasters/notesMaster1.xml" Id="R89099afae6b240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e2f914d674d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4bdfa8c781460b" /><Relationship Type="http://schemas.openxmlformats.org/officeDocument/2006/relationships/slideLayout" Target="/ppt/slideLayouts/slideLayout1.xml" Id="R86e36024cee94e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e36024cee94e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3b0e3d6754e94" /><Relationship Type="http://schemas.openxmlformats.org/officeDocument/2006/relationships/notesSlide" Target="/ppt/notesSlides/notesSlide1.xml" Id="R2d1c7a798e6448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6ca975e9f4864" /><Relationship Type="http://schemas.openxmlformats.org/officeDocument/2006/relationships/notesSlide" Target="/ppt/notesSlides/notesSlide2.xml" Id="Rffb804f448f045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a3d8a8912408c" /><Relationship Type="http://schemas.openxmlformats.org/officeDocument/2006/relationships/notesSlide" Target="/ppt/notesSlides/notesSlide3.xml" Id="R2caabba10e1346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34a99b3044e55" /><Relationship Type="http://schemas.openxmlformats.org/officeDocument/2006/relationships/notesSlide" Target="/ppt/notesSlides/notesSlide4.xml" Id="R8c043102f5b945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1eb3d281d4207" /><Relationship Type="http://schemas.openxmlformats.org/officeDocument/2006/relationships/notesSlide" Target="/ppt/notesSlides/notesSlide5.xml" Id="R2ddf9ca5e6e847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066a2dd134b4a" /><Relationship Type="http://schemas.openxmlformats.org/officeDocument/2006/relationships/notesSlide" Target="/ppt/notesSlides/notesSlide6.xml" Id="Ra0dfb6f351f44b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f6a8a002045f5" /><Relationship Type="http://schemas.openxmlformats.org/officeDocument/2006/relationships/notesSlide" Target="/ppt/notesSlides/notesSlide7.xml" Id="Ra34f214bdb4c48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48123ecdf414c" /><Relationship Type="http://schemas.openxmlformats.org/officeDocument/2006/relationships/notesSlide" Target="/ppt/notesSlides/notesSlide8.xml" Id="Rd3df069660c444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2126ed8944a4f" /><Relationship Type="http://schemas.openxmlformats.org/officeDocument/2006/relationships/notesSlide" Target="/ppt/notesSlides/notesSlide9.xml" Id="R75262e074a4c4d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7FA1E-61F3-464B-A1EE-719BAEF3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8F4DA-C10B-478D-99E7-4D2B9F2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SECOND REVIEW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8FE67-B708-4B83-88C5-F98E631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62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 Study on Short-Term Vegetable Price</a:t>
            </a:r>
          </a:p>
          <a:p xmlns:a="http://schemas.openxmlformats.org/drawingml/2006/main">
            <a:pPr>
              <a:defRPr sz="28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Forecasting at Koyambedu Wholesale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AD9AA-3FC7-454D-80D3-DC956D8C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A Machine Learning and Multi-Agent AI Approach for Supply Chain</a:t>
            </a:r>
          </a:p>
          <a:p xmlns:a="http://schemas.openxmlformats.org/drawingml/2006/main">
            <a:pPr>
              <a:defRPr sz="15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Procurement Decision-Making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6DA82-B0DE-4398-A852-806BA87D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AE62E-CF09-46DA-A91B-65BB10E0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Vignesh Natarajan | Roll No: 24060BA0046 | Reg No: 69124100162 | MBA Business Analytics | Anna University CDE | CY24 Batch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F415A-85CD-487E-9775-9C53AD6B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Current evidence base: local pipeline outputs dated 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14715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975A4-FF18-4BBA-9345-EF53369A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BC6E6-5C3F-43BD-A000-710DD98E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38C92-F824-4125-861D-9ABD4786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MBA Business Analytics | Anna University CDE | CY24 | Vignesh Natarajan | Roll: 24060BA0046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F5F30-F176-4C6E-8910-B1DCC95F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9726-740A-42AF-8DE0-3FA12906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5731C-EEFE-414B-BE1E-6943407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38BFD-5D35-461B-91B3-90B64EB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239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Primary &amp; Secondary Objectives and Methodology – Recap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4C587-B65C-46A4-850E-14B8E1DC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97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0783B-6C35-4D9D-A401-446CC47C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907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E01D0-B214-455D-8428-7655B96B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5D91A-895E-44F8-B2BB-BA9EB244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050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Data Collection &amp; Compilation of Data Sheet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CBF9A-6145-41CC-9E46-03A7346C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908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012C8-C0B5-4040-A64D-CA539192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718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8B472-DC43-4FE1-A8F5-2B028853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5350A-351D-4233-ADDD-1A598B2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Data Collection Tool, Consolidation of Data &amp; Worksheet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BE8F0-F88B-4499-A190-5F2A088E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718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95E2A-8C52-4EBE-9F4C-5A4205E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53F0C-64AF-4283-A0C9-43CD2962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3465E-3598-4FE5-AE60-DD7F0BB0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Work Done So Far – Data Analysis (Phase 4: Model Training)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0D120-7222-4DB3-947F-22E9A5A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A7030-7202-4A27-B3F1-8BD4F528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339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7060B-40D4-4C4E-8C83-0005E1E3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F90D6-73F5-478E-88D9-8AEF7ACE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Work To Be Done – Phase 5 (AgriSight Pipeline) &amp; Phase 6 (Reporting)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8302D-5122-4D0C-8CA6-55E8DADC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340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0E25A-A269-4E59-870E-965930A2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15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49832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83237-C384-4E90-B0E5-768A372B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C419F-9B75-411A-9F48-E74BDDAE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051E9-5824-4ACC-A60D-CB4D39FD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MBA Business Analytics | Anna University CDE | CY24 | Vignesh Natarajan | Roll: 24060BA0046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33BC6-62D2-4767-956E-F4D91188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Objectives &amp; Methodology – Recap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F51EA-B756-4B9E-8A3F-10BCB05B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Proposal objectives retained; current implementation and evidence status are shown explicitly.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3959B-B593-401C-A243-3FC4B3D0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0DFC8-296A-424D-AEFF-BE103FE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PRIMARY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0EBB4-6C15-4622-9F8D-11C1394F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48911-763E-4DEC-9D3D-634310D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59369-80F6-4EFA-BB3F-109C128D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1036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 short-term vegetable prices at Koyambedu using SARIMA, Prophet, Random Forest and XGBoost; assess whether the four-agent AgriSight decision-support pipeline improves procurement decisions. Model comparison is implemented; improvement evaluation is still pending.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FC5E3-12E3-48BB-A09C-BBE4F68F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SECONDARY OBJECTIVES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E25B3-0C42-4573-BF01-836C3263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S01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475F3-EEDE-49D1-B91D-1BB63ECA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43175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Compare four models on the available 90-day evaluation windows. Current scripts report RMSE/MAE/MAPE; 7/14/30-day horizon comparison is not present in the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AF272-ED7B-4F8F-932E-23C31221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S02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BB628-3B90-40AD-8206-81E5CE7C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43225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Test Northeast Monsoon deviation as a significant predictor. Current features include monsoon flags; a deviation index and significance test are not implemented.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528F8-D91A-40C9-99D4-8A93277F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S03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FCDCA-074D-4F4F-B8FB-3C9E45F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43275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Build AgriSight as a four-agent pipeline. Current agents are rule-based data analysis, forecasting, market intelligence and procurement advisory; news reading is not implemented.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2DF9B-CB5A-4531-8151-BD7F3C6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S04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678ED-CDAA-4710-9B98-97D880CF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43325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Estimate July 2023 tomato-crisis procurement savings. Current market input begins 2024-01-24, so this retrospective case study is not supported by the available dataset.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956D0-9FDA-4894-B327-8568F476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0D993-26BC-4A6E-8FC5-9573A176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METHODOLOGY (CURRENT CODE)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EFF2C-BD95-4F06-9034-674F2673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30D7F-9B87-4122-8F0E-6E438234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42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Quantitative secondary-data study: Kaggle Agmarknet-derived prices plus Chennai daily weather; no primary questionnaire.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A3226-2888-4600-81A4-C550DF59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43EFB-9A19-40AB-A1F9-C4FC69E6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1042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Latest 90 days held out; ML retrains in expanding windows every 30 days, SARIMA walk-forward every 7 days; Prophet uses a static holdout.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EB0A4-A373-4091-A68A-E7C0DAD4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7CD5E-C4D4-4DAD-8D10-4C375508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43525"/>
            <a:ext cx="1042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RMSE, MAE and MAPE are reported. Validation protocols differ across models, so cross-model MAPE comparisons are descriptive.</a:t>
            </a:r>
          </a:p>
        </p:txBody>
      </p:sp>
    </p:spTree>
    <p:extLst>
      <p:ext uri="{BB962C8B-B14F-4D97-AF65-F5344CB8AC3E}">
        <p14:creationId xmlns:p14="http://schemas.microsoft.com/office/powerpoint/2010/main" val="1621823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68874-0C11-4F65-8EE7-342F734F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BDE99-1EB0-4B31-9CDF-C0362A5C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530EC-9128-402C-A508-9395CD9D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MBA Business Analytics | Anna University CDE | CY24 | Vignesh Natarajan | Roll: 24060BA0046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C42AE-BB01-4B6D-86E5-F34D597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Data Collection &amp; Compilation of Data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52F4D-3DEA-4500-98FE-8D67DDE1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Current local run: source records consolidated into a filtered feature worksheet.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08A6C-7B17-4CC7-9A8E-15A7780C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8442D-230D-4434-989A-B2D441B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SOURCES COLLECTED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AC145-9D91-430B-BB18-B8360A8B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71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03FB0-CEFE-41BE-8EAC-7995E3A1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466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Kaggle Agmarknet-derived price file, filtered to Tamil Nadu vegetables; processed dates: 2024-01-24 to 2026-04-20.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0AEDB-1061-469F-833E-BE6E3C4F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2A4D9-25DC-4FA9-BF48-5CC4DB50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Open-Meteo daily Chennai weather parquet, joined by date in feature engineering.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0ADEF-8F86-4FB1-9DED-394CA1FC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9E574-2488-42B5-AF69-BC18933B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Calendar features include festival windows and SW/NE monsoon flags.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0C599-A240-4140-ADF1-2FC909B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85875"/>
            <a:ext cx="19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C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913AD-41AB-4093-8BDC-071CDC86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38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COMPILATION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7F781-D109-46A7-A2C1-6A89EDA8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18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414,388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74276-6D15-4DC9-BFD4-3D0EEB9F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9067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cleaned price records in the processed dataset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E9E3E-D22A-40BF-B86F-3894439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18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4,041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9D42E-7E28-4ABF-B603-E4715E06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5742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rows in the engineered feature worksheet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9DBDA-DCF0-495A-A093-60766183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18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DB860-3828-4422-95E0-CD8B36B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2417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feature columns per 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6EA24-7FAB-4490-A497-9D1DE19B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46757-F0BB-4F7C-AA27-2DDEF1ED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COVERAGE &amp; QUALITY NOTES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7A5EB-FCEF-4030-B403-F25902A3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C91A4-9CD2-4C72-81D9-EE023997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042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The processed dataset begins 2024-01-24; the feature worksheet spans 2024-02-26 to 2026-04-20. Pre-2024 coverage and the July 2023 case study cannot be verified from this input.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C2C00-86A1-4525-B787-DAD798B3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71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EDA0BC-20C0-4FE5-947C-35B9FD9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420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Three records with modal prices above ₹100,000/quintal were removed before feature engineering and logged in feature_outliers_dropped.csv.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53CC9-9A28-443C-9A45-B04E1B63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7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1FB97-BE81-4990-80FC-04583948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1042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The legacy Koyambedu scraper is not the source of the current processed dataset; current local input is the Kaggle-derived file.</a:t>
            </a:r>
          </a:p>
        </p:txBody>
      </p:sp>
    </p:spTree>
    <p:extLst>
      <p:ext uri="{BB962C8B-B14F-4D97-AF65-F5344CB8AC3E}">
        <p14:creationId xmlns:p14="http://schemas.microsoft.com/office/powerpoint/2010/main" val="303757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0AEAB-CD46-4EC6-AEE5-C7BD2201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6251C-5B7F-45B7-ADE1-4D80899B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E19F6-9A22-421D-8F1B-0A89579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MBA Business Analytics | Anna University CDE | CY24 | Vignesh Natarajan | Roll: 24060BA0046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1B258-634A-4A3E-9274-E5A791C7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Data Collection Tool, Consolidation &amp; Worksheet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2B67D-8AD7-4AB2-B146-F8A48E2D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Scripted pipeline for this secondary-data study; details reflect files present in the local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96B65-B302-4EEE-A328-48E502A3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98CE3-44DE-4FCA-81A5-83973F4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6D08F-E574-489D-82AF-71ADA2E0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239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Collection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81006-9BF6-4A5F-9356-9575DB66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9725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01_download_kaggle_prices.py supplies the current Tamil Nadu-filtered Kaggle price file. The legacy Agmarknet scraper is a separate path; its output is not the current source.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E42F3-CE4C-4687-94CC-5D76432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FFE75-50BE-4E10-AA68-C9553265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391C7-5280-4A0D-BEC9-146B6826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6222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Consolidation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0EC9F-2F97-454F-AC80-3C3ABD7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02_process_agmarknet.py normalizes local CSV fields, parses dates, maps commodity variants and filters Tamil Nadu; data.gov.in API pulls are optional and credential-gated.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9F2DB-F32E-41B5-BBFF-2C3D6D6C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76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92B43-2654-4E75-9CD7-9EF5AC7A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950D4-783E-4D1F-9EB4-8187C1D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Feature worksheet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22881-16F2-4E2D-BA4B-AB49522F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04_feature_engineering.py creates lag (7/14/21/30d), shifted rolling statistics, EMAs, calendar/monsoon/festival flags, weather and cross-commodity 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E3774-7133-4D84-B710-B4790F64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361AF-F95E-41D4-BC71-01FBE1A5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0639A-5841-46DE-8499-53054744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3872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Master sheet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D2278-C563-4E2E-8E9A-03562CC7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24475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tn_features.parquet / .csv — current file contains 4,041 rows × 62 columns (2024-02-26–2026-04-20); source code limits the worksheet to year ≥ 2024 and requires 30 days of history.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2C776-A831-4877-B171-216D773A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531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97489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81034-A9FE-4126-BBC5-3DAA66A5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70EBA-AF69-4472-8B15-D5283B58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F38CA-65E1-4A1F-B5AF-17115A39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MBA Business Analytics | Anna University CDE | CY24 | Vignesh Natarajan | Roll: 24060BA0046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94FC0-0461-4286-8F1B-6DF60FB4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Work Done So Far – Data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5062F-F8AD-4232-9490-906B7B9D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Phase 4: model training artifacts are present in local reports dated 7 October 2026.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2142D-4DAF-4BBF-96A6-90E10D73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4CD08-AA03-4E55-895E-54D57523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7A4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A7A4A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5826D-2EDE-4946-A299-956B75F6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620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SARIMA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58CEC-CB5E-4024-94A6-5782BE52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4782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Grid-selected orders by commodity; weekly seasonal period and 90-day static test. Mean static-holdout MAPE: 33.6%; mean walk-forward MAPE: 10.8%.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E16B9-31B4-46D6-8938-625168F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98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B9994-8AE6-4B58-B3C2-A3CB51CD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7A4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A7A4A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B475C-567C-43C6-A9D1-5FD639AB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Prophet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75B3A-7F40-4168-8560-6295339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Festival calendar and monsoon regressors; 90-day static holdout. Mean MAPE from prophet_summary.csv: 18.8%.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E8E6C-5F0D-44D6-8CDC-494E9D78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F86C1-E7DC-4C28-B19C-5F07207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7A4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A7A4A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F881A-6447-4BAF-BA61-CC8E7AB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Random Forest &amp; XGBoost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8F6F8-7506-4CF7-BF53-959B5711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29075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Walk-forward ML evaluation; best-per-commodity mean MAPE: 6.3%. Best ML MAPE is lower than the reported SARIMA static-holdout MAPE for 7/8 commodities; protocols differ.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4A6A1-FF65-4835-8E8F-E988B034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10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76C74-5317-436D-A3A2-4F09C176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7A4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A7A4A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53F98-99D6-44EC-8595-C293FCD1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339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SHAP explainability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2E1A1-89FF-400F-A96C-5802162F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9810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shap_top_drivers.csv is populated. position_52w is the top-ranked feature for all 8 commodities in the current report.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5CA60-9613-4A55-8C83-E92D4CD3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817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A56AB-A25A-4BEB-8CFB-506CCC9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1062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MAPE comparisons are descriptive: SARIMA/Prophet use a static 90-day holdout; ML uses expanding-window walk-forward forecasts.</a:t>
            </a:r>
          </a:p>
        </p:txBody>
      </p:sp>
    </p:spTree>
    <p:extLst>
      <p:ext uri="{BB962C8B-B14F-4D97-AF65-F5344CB8AC3E}">
        <p14:creationId xmlns:p14="http://schemas.microsoft.com/office/powerpoint/2010/main" val="511995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8678C-F1AD-49E5-AA01-004EFEE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D71A7-3C8C-4EE1-9634-EDB9C960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23E59-6B35-4B6A-A751-EB5DD4B0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MBA Business Analytics | Anna University CDE | CY24 | Vignesh Natarajan | Roll: 24060BA0046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81F63-62C2-456F-B2B6-878BCE16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Work Done So Far – Model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4A60E-0D5F-4D43-A2B2-EF63E5F2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Reported MAPE (%) by commodity from local model summary CSVs; lower is better within each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8FD52-4676-4DC1-8A64-75062ED3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04850" y="1314450"/>
          <a:ext xmlns:a="http://schemas.openxmlformats.org/drawingml/2006/main" cx="107823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381125"/>
                <a:gridCol w="1381125"/>
                <a:gridCol w="1381125"/>
                <a:gridCol w="1809750"/>
                <a:gridCol w="2066925"/>
              </a:tblGrid>
              <a:tr h="33813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Commodity</a:t>
                      </a:r>
                    </a:p>
                  </a:txBody>
                  <a:tcPr marL="91440" marR="91440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SARIMA</a:t>
                      </a:r>
                    </a:p>
                  </a:txBody>
                  <a:tcPr marL="91440" marR="91440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Prophet</a:t>
                      </a:r>
                    </a:p>
                  </a:txBody>
                  <a:tcPr marL="91440" marR="91440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Best ML</a:t>
                      </a:r>
                    </a:p>
                  </a:txBody>
                  <a:tcPr marL="91440" marR="91440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Lower vs SARIMA*</a:t>
                      </a:r>
                    </a:p>
                  </a:txBody>
                  <a:tcPr marL="91440" marR="91440" marT="45720" marB="45720">
                    <a:solidFill>
                      <a:srgbClr val="1E3A5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14.0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Brinjal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28.6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Cabbage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Carrot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52.2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35.5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Drumstick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55.8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31.7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34.5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14.6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Potato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21.6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Tomato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3A5F"/>
                          </a:solidFill>
                          <a:latin typeface="Calibri"/>
                          <a:ea typeface="Calibri"/>
                          <a:cs typeface="Calibri"/>
                        </a:rPr>
                        <a:t>Average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3A5F"/>
                          </a:solidFill>
                          <a:latin typeface="Calibri"/>
                          <a:ea typeface="Calibri"/>
                          <a:cs typeface="Calibri"/>
                        </a:rPr>
                        <a:t>33.6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3A5F"/>
                          </a:solidFill>
                          <a:latin typeface="Calibri"/>
                          <a:ea typeface="Calibri"/>
                          <a:cs typeface="Calibri"/>
                        </a:rPr>
                        <a:t>18.8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3A5F"/>
                          </a:solidFill>
                          <a:latin typeface="Calibri"/>
                          <a:ea typeface="Calibri"/>
                          <a:cs typeface="Calibri"/>
                        </a:rPr>
                        <a:t>6.3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3A5F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3A5F"/>
                          </a:solidFill>
                          <a:latin typeface="Calibri"/>
                          <a:ea typeface="Calibri"/>
                          <a:cs typeface="Calibri"/>
                        </a:rPr>
                        <a:t>7/8</a:t>
                      </a:r>
                    </a:p>
                  </a:txBody>
                  <a:tcPr marL="91440" marR="91440" marT="45720" marB="45720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A0DF0-D1E1-494E-A562-5255379B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SHAP TOP DRIVER (CURRENT REPORT)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8255E-1EE7-4348-B3F1-C81EBB2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38153-4010-4C3B-A427-D6595371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position_52w is the top-ranked SHAP feature for Beans, Brinjal, Cabbage, Carrot, Drumstick, Onion, Potato and Tomato.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FEF8D-CF65-42DF-9FA3-E629C211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CBF0D-4172-4987-8AE4-93912111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Best ML model is RF for Beans and Onion; XGBoost for the other six commodities.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A9AD5-6138-423A-9EBE-182E1A80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* Descriptive comparison only: SARIMA/Prophet static 90-day holdout vs ML expanding-window walk-forward; evaluation procedures are not identical. Means are computed from the current per-commodity report values.</a:t>
            </a:r>
          </a:p>
        </p:txBody>
      </p:sp>
    </p:spTree>
    <p:extLst>
      <p:ext uri="{BB962C8B-B14F-4D97-AF65-F5344CB8AC3E}">
        <p14:creationId xmlns:p14="http://schemas.microsoft.com/office/powerpoint/2010/main" val="430880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158EB-B930-408B-B681-90A73E89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9C678-B9C8-4B8D-9063-81D490EA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1760E-9C97-4930-8B66-0BB9C4A6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MBA Business Analytics | Anna University CDE | CY24 | Vignesh Natarajan | Roll: 24060BA0046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4475D-7C69-49C2-8909-17900BE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Work To Be Done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C738C-D203-4FDF-A5B8-403EEF6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Phase 5 – AgriSight Pipeline | Phase 6 – Reporting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9DD84-7E09-4503-9AE6-65610F4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1B723-B8DB-44DF-B7E6-9C419BEF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0247D-223E-4325-A768-B5627DB9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620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Phase 5 – AgriSight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49AD0-6431-43A6-B8B0-A9479D4F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B45E2-967D-43A1-850B-DCAFF36B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Current four-agent rule-based pipeline runs; latest report has 8 HOLD recommendations and no HIGH-risk items.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0E39F-27DE-487D-9E1E-1BCF4976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8B805-876E-49D2-862C-B07D10C1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479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Run a controlled Delta-RMSE evaluation against standalone XGBoost on a matched validation window; no such evaluation report is present.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CE0F7-BF48-4A3B-9676-287A1565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359D8-2C29-4C95-A82D-8291678B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860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Confirm scope for news reading (not in current code), then validate risk/procurement signals against held-out outcomes.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DCFB0-A257-4EBD-96E5-11440033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57E27-881C-46F3-AA3D-3FD50346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0E9EF-A089-449B-B434-03FA7C4E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147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Phase 6 –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7334C-54D0-44C1-8402-5008EF50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71925"/>
            <a:ext cx="17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F83AD-8198-412A-9E81-8B8AB5C9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71925"/>
            <a:ext cx="962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July 2023 tomato crisis savings case study requires pre-2024 price observations; current dataset begins in 2024.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03B1E-3A96-401F-9899-8F94B78B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48175"/>
            <a:ext cx="17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DF557-3CB4-4707-B634-CFE2B987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48175"/>
            <a:ext cx="962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Consolidate verified model metrics, SHAP findings and agent evaluation into the academic report.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76F69-2CD8-487B-AA7C-793979AB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24425"/>
            <a:ext cx="17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97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5973A"/>
                </a:solidFill>
                <a:latin typeface="Calibri"/>
                <a:ea typeface="Calibri"/>
                <a:cs typeface="Calibri"/>
              </a:rPr>
              <a:t>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FBD6E-ED09-481D-8349-B09ABC6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24425"/>
            <a:ext cx="962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Prepare final Viva-Voce materials: Chapters 1–5, appendices and references per the review roadmap.</a:t>
            </a:r>
          </a:p>
        </p:txBody>
      </p:sp>
    </p:spTree>
    <p:extLst>
      <p:ext uri="{BB962C8B-B14F-4D97-AF65-F5344CB8AC3E}">
        <p14:creationId xmlns:p14="http://schemas.microsoft.com/office/powerpoint/2010/main" val="1218841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F7548-5541-4B8C-B63D-4B620E72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BC2E4-EBE1-40A0-AC60-575CF92B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E3A5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B189F-BD1D-428D-8A30-24FDC4CD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Open for Questions and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086BA-029D-429A-A5C4-A809B4D0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7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99B45-5618-44F1-B1FD-0ECCCBF3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62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Vignesh Natarajan | Roll No: 24060BA0046 | Reg No: 69124100162 | MBA Business Analytics | Anna University CDE | CY24 Batch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314C6-1B6B-40EE-B884-872AB5B8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A Study on Short-Term Vegetable Price Forecasting at Koyambedu Wholesale Market: A Machine Learning and Multi-Agent AI Approach for Supply Chain Procurement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223401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2026-10-09T14:48:09.0830000Z</dcterms:created>
  <dcterms:modified xsi:type="dcterms:W3CDTF">2026-10-09T14:48:09.0830000Z</dcterms:modified>
</coreProperties>
</file>